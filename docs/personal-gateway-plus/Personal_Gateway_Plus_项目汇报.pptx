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6" r:id="rId12"/>
    <p:sldId id="26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66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开场先用一句话定义项目：它把多个模型 API 组成一个可靠分组，并通过统一接口提供给 Agent。</a:t>
            </a:r>
          </a:p>
          <a:p>
            <a:endParaRPr/>
          </a:p>
          <a:p>
            <a:r>
              <a:t>[Sources]</a:t>
            </a:r>
          </a:p>
          <a:p>
            <a:r>
              <a:t>- 本地项目：docs/personal-gateway-plus/PROJECT_INTRODUCTION.md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三点依次讲：管理成本、可靠性风险、排障困难。项目正是针对这三个问题设计。</a:t>
            </a:r>
          </a:p>
          <a:p>
            <a:endParaRPr/>
          </a:p>
          <a:p>
            <a:r>
              <a:t>[Sources]</a:t>
            </a:r>
          </a:p>
          <a:p>
            <a:r>
              <a:t>- 本地项目需求与规划：docs/personal-gateway-plus/PRODUCT_REQUIREMENTS.md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强调这不是单纯转发，而是带管理、路由策略和可观测性的完整网关闭环。</a:t>
            </a:r>
          </a:p>
          <a:p>
            <a:endParaRPr/>
          </a:p>
          <a:p>
            <a:r>
              <a:t>[Sources]</a:t>
            </a:r>
          </a:p>
          <a:p>
            <a:r>
              <a:t>- 本地代码：server/app/api/upstreams.py</a:t>
            </a:r>
          </a:p>
          <a:p>
            <a:r>
              <a:t>- 本地代码：server/app/api/groups.py</a:t>
            </a:r>
          </a:p>
          <a:p>
            <a:r>
              <a:t>- 本地代码：server/app/services/gateway_service.py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可以结合现场演示讲：第一上游失败约 2 秒，第二上游成功，完整耗时是两次尝试之和。</a:t>
            </a:r>
          </a:p>
          <a:p>
            <a:endParaRPr/>
          </a:p>
          <a:p>
            <a:r>
              <a:t>[Sources]</a:t>
            </a:r>
          </a:p>
          <a:p>
            <a:r>
              <a:t>- 本地代码：server/app/services/gateway_service.py</a:t>
            </a:r>
          </a:p>
          <a:p>
            <a:r>
              <a:t>- 本地测试：server/tests/test_gateway.py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从左到右说明数据流，再用清单交代技术栈。当前阶段不考虑服务器部署，重点是本地可用。</a:t>
            </a:r>
          </a:p>
          <a:p>
            <a:endParaRPr/>
          </a:p>
          <a:p>
            <a:r>
              <a:t>[Sources]</a:t>
            </a:r>
          </a:p>
          <a:p>
            <a:r>
              <a:t>- 本地代码：server/app/main.py</a:t>
            </a:r>
          </a:p>
          <a:p>
            <a:r>
              <a:t>- 本地代码：web/package.json</a:t>
            </a:r>
          </a:p>
          <a:p>
            <a:r>
              <a:t>- 本地脚本：start-all.bat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这里给出可核验结果：2026-08-12 重新运行 12 项服务端测试和 Web 构建；第三方客户端已真实对话成功。</a:t>
            </a:r>
          </a:p>
          <a:p>
            <a:endParaRPr/>
          </a:p>
          <a:p>
            <a:r>
              <a:t>[Sources]</a:t>
            </a:r>
          </a:p>
          <a:p>
            <a:r>
              <a:t>- 本地测试：server/tests/</a:t>
            </a:r>
          </a:p>
          <a:p>
            <a:r>
              <a:t>- 本地构建：web/package.json</a:t>
            </a:r>
          </a:p>
          <a:p>
            <a:r>
              <a:t>- 用户验证截图：Cherry Studio 真实对话（2026-08-12）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这一页必须讲清口径：当前功能是统一展示和追溯来源，不应表述成实时爬取。实时采集属于下一阶段。</a:t>
            </a:r>
          </a:p>
          <a:p>
            <a:endParaRPr/>
          </a:p>
          <a:p>
            <a:r>
              <a:t>[Sources]</a:t>
            </a:r>
          </a:p>
          <a:p>
            <a:r>
              <a:t>- 本地数据：server/app/data/model_prices.json</a:t>
            </a:r>
          </a:p>
          <a:p>
            <a:r>
              <a:t>- 本地数据：server/app/data/promotions.json</a:t>
            </a:r>
          </a:p>
          <a:p>
            <a:r>
              <a:t>- 本地代码：server/app/services/catalog_service.py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路线图按优先级讲：先保证第三方兼容和安全，再做智能策略与实时数据，最后生产化。</a:t>
            </a:r>
          </a:p>
          <a:p>
            <a:endParaRPr/>
          </a:p>
          <a:p>
            <a:r>
              <a:t>[Sources]</a:t>
            </a:r>
          </a:p>
          <a:p>
            <a:r>
              <a:t>- 本地项目：docs/personal-gateway-plus/PROJECT_INTRODUCTION.md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按清单演示即可。不要现场修改真实密钥；故障演示可以使用可控的错误地址或 Mock 模式。</a:t>
            </a:r>
          </a:p>
          <a:p>
            <a:endParaRPr/>
          </a:p>
          <a:p>
            <a:r>
              <a:t>[Sources]</a:t>
            </a:r>
          </a:p>
          <a:p>
            <a:r>
              <a:t>- 本地项目：web/src/views/PlaygroundView.vue</a:t>
            </a:r>
          </a:p>
          <a:p>
            <a:r>
              <a:t>- 本地工具：server/mock_upstream.py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B1437-F4C7-3EDC-AF7F-03AB0FFC4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45E2AB-766B-07A1-957F-27B40A0B3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0D538-9FAC-4598-BE51-97E62273A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按清单演示即可。不要现场修改真实密钥；故障演示可以使用可控的错误地址或 Mock 模式。</a:t>
            </a:r>
          </a:p>
          <a:p>
            <a:endParaRPr/>
          </a:p>
          <a:p>
            <a:r>
              <a:t>[Sources]</a:t>
            </a:r>
          </a:p>
          <a:p>
            <a:r>
              <a:t>- 本地项目：web/src/views/PlaygroundView.vue</a:t>
            </a:r>
          </a:p>
          <a:p>
            <a:r>
              <a:t>- 本地工具：server/mock_upstream.py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EA8B6-7C13-EB2D-5B8F-572A1DEEEC0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655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D7464-0F1D-08B2-963A-D428C93F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0EF71-C26A-9F90-1C71-B23047B1F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0133FF-2F55-39D3-BE66-1CB50F795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按清单演示即可。不要现场修改真实密钥；故障演示可以使用可控的错误地址或 Mock 模式。</a:t>
            </a:r>
          </a:p>
          <a:p>
            <a:endParaRPr/>
          </a:p>
          <a:p>
            <a:r>
              <a:t>[Sources]</a:t>
            </a:r>
          </a:p>
          <a:p>
            <a:r>
              <a:t>- 本地项目：web/src/views/PlaygroundView.vue</a:t>
            </a:r>
          </a:p>
          <a:p>
            <a:r>
              <a:t>- 本地工具：server/mock_upstream.py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780F0-A5DE-4374-78D5-93E656BC4F8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88517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收尾再次强调项目价值：统一管理、提升可靠性、降低 Agent 接入成本。然后进入问答。</a:t>
            </a:r>
          </a:p>
          <a:p>
            <a:endParaRPr/>
          </a:p>
          <a:p>
            <a:r>
              <a:t>[Sources]</a:t>
            </a:r>
          </a:p>
          <a:p>
            <a:r>
              <a:t>- 本地项目：docs/personal-gateway-plus/PROJECT_INTRODUCTION.md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0367A7FE-BF9D-4FEB-B6AF-7F6DBD8D96AD}"/>
              </a:ext>
            </a:extLst>
          </p:cNvPr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Personal Gateway Plus
</a:t>
            </a:r>
            <a:r>
              <a:rPr dirty="0" err="1"/>
              <a:t>个人</a:t>
            </a:r>
            <a:r>
              <a:rPr dirty="0"/>
              <a:t> AI API </a:t>
            </a:r>
            <a:r>
              <a:rPr dirty="0" err="1"/>
              <a:t>中转站</a:t>
            </a:r>
            <a:endParaRPr dirty="0"/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A77D99DF-2B8D-4BF9-B2E3-88C733721F34}"/>
              </a:ext>
            </a:extLst>
          </p:cNvPr>
          <p:cNvSpPr>
            <a:spLocks noGrp="1"/>
          </p:cNvSpPr>
          <p:nvPr/>
        </p:nvSpPr>
        <p:spPr>
          <a:xfrm>
            <a:off x="393668" y="4742212"/>
            <a:ext cx="6554820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多上游管理</a:t>
            </a:r>
            <a:r>
              <a:rPr dirty="0"/>
              <a:t> · </a:t>
            </a:r>
            <a:r>
              <a:rPr dirty="0" err="1"/>
              <a:t>自动故障切换</a:t>
            </a:r>
            <a:r>
              <a:rPr dirty="0"/>
              <a:t> · OpenAI </a:t>
            </a:r>
            <a:r>
              <a:rPr dirty="0" err="1"/>
              <a:t>兼容接口</a:t>
            </a:r>
            <a:r>
              <a:rPr dirty="0"/>
              <a:t>
</a:t>
            </a: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69EB50FE-98AF-4C33-B790-77735D6BEDE1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5702332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项目汇报 · 2026</a:t>
            </a:r>
          </a:p>
        </p:txBody>
      </p:sp>
    </p:spTree>
    <p:extLst>
      <p:ext uri="{BB962C8B-B14F-4D97-AF65-F5344CB8AC3E}">
        <p14:creationId xmlns:p14="http://schemas.microsoft.com/office/powerpoint/2010/main" val="1183355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23F8750-B014-9392-409D-A6DD8FA20125}"/>
              </a:ext>
            </a:extLst>
          </p:cNvPr>
          <p:cNvSpPr/>
          <p:nvPr/>
        </p:nvSpPr>
        <p:spPr>
          <a:xfrm>
            <a:off x="0" y="1662113"/>
            <a:ext cx="12192000" cy="39909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Google-Shape-532-p58-2">
            <a:extLst>
              <a:ext uri="{FF2B5EF4-FFF2-40B4-BE49-F238E27FC236}">
                <a16:creationId xmlns:a16="http://schemas.microsoft.com/office/drawing/2014/main" id="{BBE1124F-87F9-490E-B219-12C36093FB3C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02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32505316-B03F-4FEB-972E-6467801F75C8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为什么需要个人 AI API 网关？</a:t>
            </a:r>
          </a:p>
        </p:txBody>
      </p:sp>
      <p:sp>
        <p:nvSpPr>
          <p:cNvPr id="3" name="Google-Shape-558-p61-4">
            <a:extLst>
              <a:ext uri="{FF2B5EF4-FFF2-40B4-BE49-F238E27FC236}">
                <a16:creationId xmlns:a16="http://schemas.microsoft.com/office/drawing/2014/main" id="{8753577A-A58F-463C-958F-973336A2CF38}"/>
              </a:ext>
            </a:extLst>
          </p:cNvPr>
          <p:cNvSpPr>
            <a:spLocks noGrp="1"/>
          </p:cNvSpPr>
          <p:nvPr/>
        </p:nvSpPr>
        <p:spPr>
          <a:xfrm>
            <a:off x="474630" y="2941605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配置分散
不同平台的地址、密钥与模型名称各不相同，客户端需要反复配置。</a:t>
            </a:r>
          </a:p>
        </p:txBody>
      </p:sp>
      <p:sp>
        <p:nvSpPr>
          <p:cNvPr id="4" name="Google-Shape-559-p61-5">
            <a:extLst>
              <a:ext uri="{FF2B5EF4-FFF2-40B4-BE49-F238E27FC236}">
                <a16:creationId xmlns:a16="http://schemas.microsoft.com/office/drawing/2014/main" id="{4FB03E7A-50DE-4015-ABF9-54CE84B55374}"/>
              </a:ext>
            </a:extLst>
          </p:cNvPr>
          <p:cNvSpPr>
            <a:spLocks noGrp="1"/>
          </p:cNvSpPr>
          <p:nvPr/>
        </p:nvSpPr>
        <p:spPr>
          <a:xfrm>
            <a:off x="4398930" y="2941605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单点故障
上游超时、限流或报错时，Agent 会直接中断，手工切换来不及。</a:t>
            </a:r>
          </a:p>
        </p:txBody>
      </p:sp>
      <p:sp>
        <p:nvSpPr>
          <p:cNvPr id="5" name="Google-Shape-560-p61-6">
            <a:extLst>
              <a:ext uri="{FF2B5EF4-FFF2-40B4-BE49-F238E27FC236}">
                <a16:creationId xmlns:a16="http://schemas.microsoft.com/office/drawing/2014/main" id="{A5A5CDE1-9477-49BD-A7F4-D5462671857A}"/>
              </a:ext>
            </a:extLst>
          </p:cNvPr>
          <p:cNvSpPr>
            <a:spLocks noGrp="1"/>
          </p:cNvSpPr>
          <p:nvPr/>
        </p:nvSpPr>
        <p:spPr>
          <a:xfrm>
            <a:off x="8313229" y="2941605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缺少追踪
失败后难以确认最终走了哪个上游、为何切换、每一步耗时多少。</a:t>
            </a:r>
          </a:p>
        </p:txBody>
      </p:sp>
      <p:sp>
        <p:nvSpPr>
          <p:cNvPr id="6" name="Google-Shape-561-p61-7">
            <a:extLst>
              <a:ext uri="{FF2B5EF4-FFF2-40B4-BE49-F238E27FC236}">
                <a16:creationId xmlns:a16="http://schemas.microsoft.com/office/drawing/2014/main" id="{7B3A85C8-3F8D-48FE-B04E-C56FE927F10B}"/>
              </a:ext>
            </a:extLst>
          </p:cNvPr>
          <p:cNvSpPr>
            <a:spLocks noGrp="1"/>
          </p:cNvSpPr>
          <p:nvPr/>
        </p:nvSpPr>
        <p:spPr>
          <a:xfrm>
            <a:off x="4360830" y="2310765"/>
            <a:ext cx="315563" cy="353854"/>
          </a:xfrm>
          <a:custGeom>
            <a:avLst/>
            <a:gdLst/>
            <a:ahLst/>
            <a:cxnLst/>
            <a:rect l="0" t="0" r="0" b="0"/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7" name="Google-Shape-562-p61-8">
            <a:extLst>
              <a:ext uri="{FF2B5EF4-FFF2-40B4-BE49-F238E27FC236}">
                <a16:creationId xmlns:a16="http://schemas.microsoft.com/office/drawing/2014/main" id="{04266AE4-B390-411E-91F0-2C89B2C200E3}"/>
              </a:ext>
            </a:extLst>
          </p:cNvPr>
          <p:cNvSpPr>
            <a:spLocks noGrp="1"/>
          </p:cNvSpPr>
          <p:nvPr/>
        </p:nvSpPr>
        <p:spPr>
          <a:xfrm>
            <a:off x="482346" y="2306669"/>
            <a:ext cx="327089" cy="362045"/>
          </a:xfrm>
          <a:custGeom>
            <a:avLst/>
            <a:gdLst/>
            <a:ahLst/>
            <a:cxnLst/>
            <a:rect l="0" t="0" r="0" b="0"/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8" name="Google-Shape-563-p61-9">
            <a:extLst>
              <a:ext uri="{FF2B5EF4-FFF2-40B4-BE49-F238E27FC236}">
                <a16:creationId xmlns:a16="http://schemas.microsoft.com/office/drawing/2014/main" id="{5CA63209-0523-42D0-9CA6-B62A8C5E295E}"/>
              </a:ext>
            </a:extLst>
          </p:cNvPr>
          <p:cNvSpPr>
            <a:spLocks noGrp="1"/>
          </p:cNvSpPr>
          <p:nvPr/>
        </p:nvSpPr>
        <p:spPr>
          <a:xfrm>
            <a:off x="8312562" y="2335244"/>
            <a:ext cx="338614" cy="270891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2100257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DD5797D-C3F6-71FD-8CFB-0996A861AF5B}"/>
              </a:ext>
            </a:extLst>
          </p:cNvPr>
          <p:cNvSpPr/>
          <p:nvPr/>
        </p:nvSpPr>
        <p:spPr>
          <a:xfrm>
            <a:off x="7191" y="1876426"/>
            <a:ext cx="12192000" cy="39909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Google-Shape-532-p58-2">
            <a:extLst>
              <a:ext uri="{FF2B5EF4-FFF2-40B4-BE49-F238E27FC236}">
                <a16:creationId xmlns:a16="http://schemas.microsoft.com/office/drawing/2014/main" id="{A2AF7F8D-6874-4857-A1DA-137E7C6C42E0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4313E750-8AF9-4754-9EE0-22552BFAC14F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核心能力：从“配置 API”到“稳定调用”</a:t>
            </a:r>
          </a:p>
        </p:txBody>
      </p:sp>
      <p:sp>
        <p:nvSpPr>
          <p:cNvPr id="3" name="Rounded-Rectangle-6-4">
            <a:extLst>
              <a:ext uri="{FF2B5EF4-FFF2-40B4-BE49-F238E27FC236}">
                <a16:creationId xmlns:a16="http://schemas.microsoft.com/office/drawing/2014/main" id="{C2635615-A13F-43F1-9643-0D5F3A69F115}"/>
              </a:ext>
            </a:extLst>
          </p:cNvPr>
          <p:cNvSpPr>
            <a:spLocks noGrp="1"/>
          </p:cNvSpPr>
          <p:nvPr/>
        </p:nvSpPr>
        <p:spPr>
          <a:xfrm>
            <a:off x="6271641" y="2022158"/>
            <a:ext cx="5533930" cy="1638300"/>
          </a:xfrm>
          <a:prstGeom prst="roundRect">
            <a:avLst>
              <a:gd name="adj" fmla="val 4651"/>
            </a:avLst>
          </a:prstGeom>
          <a:solidFill>
            <a:srgbClr val="F2F2F2"/>
          </a:solidFill>
        </p:spPr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8A1D10F5-AF5E-4647-A21C-375CB37798AE}"/>
              </a:ext>
            </a:extLst>
          </p:cNvPr>
          <p:cNvSpPr>
            <a:spLocks noGrp="1"/>
          </p:cNvSpPr>
          <p:nvPr/>
        </p:nvSpPr>
        <p:spPr>
          <a:xfrm>
            <a:off x="6568916" y="2317147"/>
            <a:ext cx="4986909" cy="1048417"/>
          </a:xfrm>
          <a:prstGeom prst="rect">
            <a:avLst/>
          </a:prstGeom>
        </p:spPr>
        <p:txBody>
          <a:bodyPr lIns="0" tIns="0" rIns="0" bIns="0">
            <a:normAutofit fontScale="95547" lnSpcReduction="10000"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API 分组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多个上游共用一个 routeKey，顺序即调用优先级。</a:t>
            </a:r>
          </a:p>
        </p:txBody>
      </p:sp>
      <p:sp>
        <p:nvSpPr>
          <p:cNvPr id="5" name="Rounded-Rectangle-8-6">
            <a:extLst>
              <a:ext uri="{FF2B5EF4-FFF2-40B4-BE49-F238E27FC236}">
                <a16:creationId xmlns:a16="http://schemas.microsoft.com/office/drawing/2014/main" id="{42D332B0-47DB-4934-9573-906051446398}"/>
              </a:ext>
            </a:extLst>
          </p:cNvPr>
          <p:cNvSpPr>
            <a:spLocks noGrp="1"/>
          </p:cNvSpPr>
          <p:nvPr/>
        </p:nvSpPr>
        <p:spPr>
          <a:xfrm>
            <a:off x="416243" y="2022158"/>
            <a:ext cx="5533930" cy="1638300"/>
          </a:xfrm>
          <a:prstGeom prst="roundRect">
            <a:avLst>
              <a:gd name="adj" fmla="val 4651"/>
            </a:avLst>
          </a:prstGeom>
          <a:solidFill>
            <a:srgbClr val="F2F2F2"/>
          </a:solidFill>
        </p:spPr>
      </p:sp>
      <p:sp>
        <p:nvSpPr>
          <p:cNvPr id="6" name="Content-Placeholder-10-7">
            <a:extLst>
              <a:ext uri="{FF2B5EF4-FFF2-40B4-BE49-F238E27FC236}">
                <a16:creationId xmlns:a16="http://schemas.microsoft.com/office/drawing/2014/main" id="{C1A739C5-89C6-4562-95E9-D23AD0315A50}"/>
              </a:ext>
            </a:extLst>
          </p:cNvPr>
          <p:cNvSpPr>
            <a:spLocks noGrp="1"/>
          </p:cNvSpPr>
          <p:nvPr/>
        </p:nvSpPr>
        <p:spPr>
          <a:xfrm>
            <a:off x="713518" y="2317147"/>
            <a:ext cx="4986909" cy="1048417"/>
          </a:xfrm>
          <a:prstGeom prst="rect">
            <a:avLst/>
          </a:prstGeom>
        </p:spPr>
        <p:txBody>
          <a:bodyPr lIns="0" tIns="0" rIns="0" bIns="0">
            <a:normAutofit fontScale="95547" lnSpcReduction="10000"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上游管理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地址、密钥、模型、启停与超时配置；密钥加密保存并掩码展示。</a:t>
            </a:r>
          </a:p>
        </p:txBody>
      </p:sp>
      <p:sp>
        <p:nvSpPr>
          <p:cNvPr id="7" name="Rounded-Rectangle-1-8">
            <a:extLst>
              <a:ext uri="{FF2B5EF4-FFF2-40B4-BE49-F238E27FC236}">
                <a16:creationId xmlns:a16="http://schemas.microsoft.com/office/drawing/2014/main" id="{4FF5206C-79E5-4277-934C-98FE003A652F}"/>
              </a:ext>
            </a:extLst>
          </p:cNvPr>
          <p:cNvSpPr>
            <a:spLocks noGrp="1"/>
          </p:cNvSpPr>
          <p:nvPr/>
        </p:nvSpPr>
        <p:spPr>
          <a:xfrm>
            <a:off x="6271641" y="4022408"/>
            <a:ext cx="5533930" cy="1638300"/>
          </a:xfrm>
          <a:prstGeom prst="roundRect">
            <a:avLst>
              <a:gd name="adj" fmla="val 4651"/>
            </a:avLst>
          </a:prstGeom>
          <a:solidFill>
            <a:srgbClr val="F2F2F2"/>
          </a:solidFill>
        </p:spPr>
      </p:sp>
      <p:sp>
        <p:nvSpPr>
          <p:cNvPr id="8" name="Content-Placeholder-10-9">
            <a:extLst>
              <a:ext uri="{FF2B5EF4-FFF2-40B4-BE49-F238E27FC236}">
                <a16:creationId xmlns:a16="http://schemas.microsoft.com/office/drawing/2014/main" id="{F026612D-1B25-4E38-9689-F1AE8BF2B9E6}"/>
              </a:ext>
            </a:extLst>
          </p:cNvPr>
          <p:cNvSpPr>
            <a:spLocks noGrp="1"/>
          </p:cNvSpPr>
          <p:nvPr/>
        </p:nvSpPr>
        <p:spPr>
          <a:xfrm>
            <a:off x="6568916" y="4317397"/>
            <a:ext cx="4986909" cy="1048417"/>
          </a:xfrm>
          <a:prstGeom prst="rect">
            <a:avLst/>
          </a:prstGeom>
        </p:spPr>
        <p:txBody>
          <a:bodyPr lIns="0" tIns="0" rIns="0" bIns="0">
            <a:normAutofit fontScale="94160" lnSpcReduction="10000"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统一接口与追踪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OpenAI 兼容调用；记录请求编号、最终上游和尝试时间线。</a:t>
            </a:r>
          </a:p>
        </p:txBody>
      </p:sp>
      <p:sp>
        <p:nvSpPr>
          <p:cNvPr id="9" name="Rounded-Rectangle-3-10">
            <a:extLst>
              <a:ext uri="{FF2B5EF4-FFF2-40B4-BE49-F238E27FC236}">
                <a16:creationId xmlns:a16="http://schemas.microsoft.com/office/drawing/2014/main" id="{7DC65F4C-58CE-4434-AFA3-9ACA2E97C599}"/>
              </a:ext>
            </a:extLst>
          </p:cNvPr>
          <p:cNvSpPr>
            <a:spLocks noGrp="1"/>
          </p:cNvSpPr>
          <p:nvPr/>
        </p:nvSpPr>
        <p:spPr>
          <a:xfrm>
            <a:off x="416243" y="4022408"/>
            <a:ext cx="5533930" cy="1638300"/>
          </a:xfrm>
          <a:prstGeom prst="roundRect">
            <a:avLst>
              <a:gd name="adj" fmla="val 4651"/>
            </a:avLst>
          </a:prstGeom>
          <a:solidFill>
            <a:srgbClr val="F2F2F2"/>
          </a:solidFill>
        </p:spPr>
      </p:sp>
      <p:sp>
        <p:nvSpPr>
          <p:cNvPr id="10" name="Content-Placeholder-10-11">
            <a:extLst>
              <a:ext uri="{FF2B5EF4-FFF2-40B4-BE49-F238E27FC236}">
                <a16:creationId xmlns:a16="http://schemas.microsoft.com/office/drawing/2014/main" id="{73019862-5A1D-4583-A7D7-B2DA2416E74F}"/>
              </a:ext>
            </a:extLst>
          </p:cNvPr>
          <p:cNvSpPr>
            <a:spLocks noGrp="1"/>
          </p:cNvSpPr>
          <p:nvPr/>
        </p:nvSpPr>
        <p:spPr>
          <a:xfrm>
            <a:off x="713518" y="4317397"/>
            <a:ext cx="4986909" cy="1048417"/>
          </a:xfrm>
          <a:prstGeom prst="rect">
            <a:avLst/>
          </a:prstGeom>
        </p:spPr>
        <p:txBody>
          <a:bodyPr lIns="0" tIns="0" rIns="0" bIns="0">
            <a:normAutofit fontScale="95547" lnSpcReduction="10000"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自动路由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连接失败、超时、429、5xx 自动尝试后备上游。</a:t>
            </a:r>
          </a:p>
        </p:txBody>
      </p:sp>
      <p:sp>
        <p:nvSpPr>
          <p:cNvPr id="11" name="Content-Placeholder-15-12">
            <a:extLst>
              <a:ext uri="{FF2B5EF4-FFF2-40B4-BE49-F238E27FC236}">
                <a16:creationId xmlns:a16="http://schemas.microsoft.com/office/drawing/2014/main" id="{8FCA24E2-CD45-4E68-80DE-36E6EB296C10}"/>
              </a:ext>
            </a:extLst>
          </p:cNvPr>
          <p:cNvSpPr>
            <a:spLocks noGrp="1"/>
          </p:cNvSpPr>
          <p:nvPr/>
        </p:nvSpPr>
        <p:spPr>
          <a:xfrm>
            <a:off x="400907" y="1057466"/>
            <a:ext cx="11404568" cy="101222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一个完整闭环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配置上游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建立分组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对外调用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自动切换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追踪结果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0191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9EBB3DD-F890-2C96-AB35-93547279D691}"/>
              </a:ext>
            </a:extLst>
          </p:cNvPr>
          <p:cNvSpPr/>
          <p:nvPr/>
        </p:nvSpPr>
        <p:spPr>
          <a:xfrm>
            <a:off x="-49" y="1562101"/>
            <a:ext cx="12192000" cy="39909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Slide-Number-Placeholder-3-2">
            <a:extLst>
              <a:ext uri="{FF2B5EF4-FFF2-40B4-BE49-F238E27FC236}">
                <a16:creationId xmlns:a16="http://schemas.microsoft.com/office/drawing/2014/main" id="{84AF147A-4465-4E78-9102-E8F94680BDC4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B12E575D-F071-4417-8F08-BFF132C2D452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自动路由：一次请求如何完成故障切换</a:t>
            </a:r>
          </a:p>
        </p:txBody>
      </p:sp>
      <p:cxnSp>
        <p:nvCxnSpPr>
          <p:cNvPr id="15" name="Google-Shape-2259-p159-4"/>
          <p:cNvCxnSpPr/>
          <p:nvPr/>
        </p:nvCxnSpPr>
        <p:spPr>
          <a:xfrm>
            <a:off x="337756" y="2654618"/>
            <a:ext cx="11854244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BF2E50EA-05FA-4821-AB1F-5AAE96FC65BB}"/>
              </a:ext>
            </a:extLst>
          </p:cNvPr>
          <p:cNvSpPr>
            <a:spLocks noGrp="1"/>
          </p:cNvSpPr>
          <p:nvPr/>
        </p:nvSpPr>
        <p:spPr>
          <a:xfrm>
            <a:off x="337756" y="2601088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A85F4727-F5DF-4BEC-A444-6171935B7F61}"/>
              </a:ext>
            </a:extLst>
          </p:cNvPr>
          <p:cNvSpPr>
            <a:spLocks noGrp="1"/>
          </p:cNvSpPr>
          <p:nvPr/>
        </p:nvSpPr>
        <p:spPr>
          <a:xfrm>
            <a:off x="4251769" y="2601088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95D2BA16-E654-4538-917C-832270D167DD}"/>
              </a:ext>
            </a:extLst>
          </p:cNvPr>
          <p:cNvSpPr>
            <a:spLocks noGrp="1"/>
          </p:cNvSpPr>
          <p:nvPr/>
        </p:nvSpPr>
        <p:spPr>
          <a:xfrm>
            <a:off x="8176069" y="2601088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405C9173-1A32-4CEF-ABCC-A59FD0EBA31C}"/>
              </a:ext>
            </a:extLst>
          </p:cNvPr>
          <p:cNvSpPr>
            <a:spLocks noGrp="1"/>
          </p:cNvSpPr>
          <p:nvPr/>
        </p:nvSpPr>
        <p:spPr>
          <a:xfrm>
            <a:off x="393667" y="2124171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3D1A0131-3D98-455D-8C90-3D54DD9926B7}"/>
              </a:ext>
            </a:extLst>
          </p:cNvPr>
          <p:cNvSpPr>
            <a:spLocks noGrp="1"/>
          </p:cNvSpPr>
          <p:nvPr/>
        </p:nvSpPr>
        <p:spPr>
          <a:xfrm>
            <a:off x="4294155" y="2124171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AE863E3B-1D06-4B4F-A503-844327B3F0C5}"/>
              </a:ext>
            </a:extLst>
          </p:cNvPr>
          <p:cNvSpPr>
            <a:spLocks noGrp="1"/>
          </p:cNvSpPr>
          <p:nvPr/>
        </p:nvSpPr>
        <p:spPr>
          <a:xfrm>
            <a:off x="8223217" y="2124171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0" name="Text-Placeholder-16-11">
            <a:extLst>
              <a:ext uri="{FF2B5EF4-FFF2-40B4-BE49-F238E27FC236}">
                <a16:creationId xmlns:a16="http://schemas.microsoft.com/office/drawing/2014/main" id="{33A7A8A3-4673-400C-B6C4-8472CC80E8D1}"/>
              </a:ext>
            </a:extLst>
          </p:cNvPr>
          <p:cNvSpPr>
            <a:spLocks noGrp="1"/>
          </p:cNvSpPr>
          <p:nvPr/>
        </p:nvSpPr>
        <p:spPr>
          <a:xfrm>
            <a:off x="4317110" y="3103531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判断故障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连接、超时、408、429、5xx 可切换；普通 4xx 直接返回，避免无效重试。</a:t>
            </a:r>
          </a:p>
        </p:txBody>
      </p:sp>
      <p:sp>
        <p:nvSpPr>
          <p:cNvPr id="11" name="Text-Placeholder-16-12">
            <a:extLst>
              <a:ext uri="{FF2B5EF4-FFF2-40B4-BE49-F238E27FC236}">
                <a16:creationId xmlns:a16="http://schemas.microsoft.com/office/drawing/2014/main" id="{E4BAD8F4-8DF4-4D3B-8316-9846488A2105}"/>
              </a:ext>
            </a:extLst>
          </p:cNvPr>
          <p:cNvSpPr>
            <a:spLocks noGrp="1"/>
          </p:cNvSpPr>
          <p:nvPr/>
        </p:nvSpPr>
        <p:spPr>
          <a:xfrm>
            <a:off x="399858" y="3103531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定位分组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客户端把 routeKey 作为 model，网关读取启用成员并按优先级排序。</a:t>
            </a:r>
          </a:p>
        </p:txBody>
      </p:sp>
      <p:sp>
        <p:nvSpPr>
          <p:cNvPr id="12" name="Text-Placeholder-16-13">
            <a:extLst>
              <a:ext uri="{FF2B5EF4-FFF2-40B4-BE49-F238E27FC236}">
                <a16:creationId xmlns:a16="http://schemas.microsoft.com/office/drawing/2014/main" id="{087A4857-B951-4DB5-A847-B6C9B77A8F4E}"/>
              </a:ext>
            </a:extLst>
          </p:cNvPr>
          <p:cNvSpPr>
            <a:spLocks noGrp="1"/>
          </p:cNvSpPr>
          <p:nvPr/>
        </p:nvSpPr>
        <p:spPr>
          <a:xfrm>
            <a:off x="8177878" y="3103531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返回并留痕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成功即停止；X-Upstream 标记最终上游，X-Request-Id 用于查询完整链路。</a:t>
            </a:r>
          </a:p>
        </p:txBody>
      </p:sp>
    </p:spTree>
    <p:extLst>
      <p:ext uri="{BB962C8B-B14F-4D97-AF65-F5344CB8AC3E}">
        <p14:creationId xmlns:p14="http://schemas.microsoft.com/office/powerpoint/2010/main" val="1294212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FB2D3C5A-6EA6-CE1E-49EA-AFC044E59649}"/>
              </a:ext>
            </a:extLst>
          </p:cNvPr>
          <p:cNvSpPr/>
          <p:nvPr/>
        </p:nvSpPr>
        <p:spPr>
          <a:xfrm>
            <a:off x="-48" y="1311783"/>
            <a:ext cx="12192000" cy="39909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Google-Shape-532-p58-2">
            <a:extLst>
              <a:ext uri="{FF2B5EF4-FFF2-40B4-BE49-F238E27FC236}">
                <a16:creationId xmlns:a16="http://schemas.microsoft.com/office/drawing/2014/main" id="{406C0D61-1601-4F7A-BA42-5D7DCB21D24C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BCDD0567-1AD4-470F-9849-B76C65147FFC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系统架构：客户端与多个供应商之间的本地网关层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50B618A2-8713-4DB3-BA7A-8BDEFAC28A37}"/>
              </a:ext>
            </a:extLst>
          </p:cNvPr>
          <p:cNvSpPr>
            <a:spLocks noGrp="1"/>
          </p:cNvSpPr>
          <p:nvPr/>
        </p:nvSpPr>
        <p:spPr>
          <a:xfrm>
            <a:off x="393668" y="1722406"/>
            <a:ext cx="5537168" cy="86515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数据流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1E3DAFF3-7F52-493D-A0B4-8B38B770430F}"/>
              </a:ext>
            </a:extLst>
          </p:cNvPr>
          <p:cNvSpPr>
            <a:spLocks noGrp="1"/>
          </p:cNvSpPr>
          <p:nvPr/>
        </p:nvSpPr>
        <p:spPr>
          <a:xfrm>
            <a:off x="7686675" y="1722406"/>
            <a:ext cx="3911632" cy="548735"/>
          </a:xfrm>
          <a:prstGeom prst="rect">
            <a:avLst/>
          </a:prstGeom>
        </p:spPr>
        <p:txBody>
          <a:bodyPr lIns="0" tIns="0" rIns="0" bIns="0">
            <a:normAutofit fontScale="90013" lnSpcReduction="20000"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服务端：FastAPI</a:t>
            </a:r>
            <a:r>
              <a:rPr dirty="0"/>
              <a:t> · </a:t>
            </a:r>
            <a:r>
              <a:rPr dirty="0" err="1"/>
              <a:t>SQLAlchemy</a:t>
            </a:r>
            <a:r>
              <a:rPr dirty="0"/>
              <a:t> · HTTPX · SQLite</a:t>
            </a:r>
          </a:p>
        </p:txBody>
      </p:sp>
      <p:sp>
        <p:nvSpPr>
          <p:cNvPr id="5" name="Google-Shape-340-p61-6">
            <a:extLst>
              <a:ext uri="{FF2B5EF4-FFF2-40B4-BE49-F238E27FC236}">
                <a16:creationId xmlns:a16="http://schemas.microsoft.com/office/drawing/2014/main" id="{F682FDEC-8F8B-4B4A-B343-2FF4C8C9D1E5}"/>
              </a:ext>
            </a:extLst>
          </p:cNvPr>
          <p:cNvSpPr>
            <a:spLocks noGrp="1"/>
          </p:cNvSpPr>
          <p:nvPr/>
        </p:nvSpPr>
        <p:spPr>
          <a:xfrm>
            <a:off x="7307675" y="1747266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6" name="TextBox-11-7">
            <a:extLst>
              <a:ext uri="{FF2B5EF4-FFF2-40B4-BE49-F238E27FC236}">
                <a16:creationId xmlns:a16="http://schemas.microsoft.com/office/drawing/2014/main" id="{0033AE65-E357-48C3-9176-6190B0928DCF}"/>
              </a:ext>
            </a:extLst>
          </p:cNvPr>
          <p:cNvSpPr>
            <a:spLocks noGrp="1"/>
          </p:cNvSpPr>
          <p:nvPr/>
        </p:nvSpPr>
        <p:spPr>
          <a:xfrm>
            <a:off x="393668" y="2990279"/>
            <a:ext cx="5537168" cy="28846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Cherry Studio / Agent → OpenAI Compatible API → FastAPI 网关 → 优先级路由 → 多个模型上游</a:t>
            </a:r>
          </a:p>
          <a:p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Vue 管理端读取配置与请求记录；SQLite 保存上游、分组、请求和路由尝试。</a:t>
            </a:r>
          </a:p>
        </p:txBody>
      </p:sp>
      <p:sp>
        <p:nvSpPr>
          <p:cNvPr id="7" name="Content-Placeholder-10-8">
            <a:extLst>
              <a:ext uri="{FF2B5EF4-FFF2-40B4-BE49-F238E27FC236}">
                <a16:creationId xmlns:a16="http://schemas.microsoft.com/office/drawing/2014/main" id="{926461BF-7D10-4128-9058-B359A7D4A865}"/>
              </a:ext>
            </a:extLst>
          </p:cNvPr>
          <p:cNvSpPr>
            <a:spLocks noGrp="1"/>
          </p:cNvSpPr>
          <p:nvPr/>
        </p:nvSpPr>
        <p:spPr>
          <a:xfrm>
            <a:off x="7686675" y="2332006"/>
            <a:ext cx="3911632" cy="548735"/>
          </a:xfrm>
          <a:prstGeom prst="rect">
            <a:avLst/>
          </a:prstGeom>
        </p:spPr>
        <p:txBody>
          <a:bodyPr lIns="0" tIns="0" rIns="0" bIns="0">
            <a:normAutofit fontScale="90013" lnSpcReduction="20000"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Web：Vue</a:t>
            </a:r>
            <a:r>
              <a:rPr dirty="0"/>
              <a:t> 3 · TypeScript · Vite · Element Plus</a:t>
            </a:r>
          </a:p>
        </p:txBody>
      </p:sp>
      <p:sp>
        <p:nvSpPr>
          <p:cNvPr id="8" name="Google-Shape-340-p61-9">
            <a:extLst>
              <a:ext uri="{FF2B5EF4-FFF2-40B4-BE49-F238E27FC236}">
                <a16:creationId xmlns:a16="http://schemas.microsoft.com/office/drawing/2014/main" id="{F0C901AC-E31D-4ACF-9E87-D35357729F7E}"/>
              </a:ext>
            </a:extLst>
          </p:cNvPr>
          <p:cNvSpPr>
            <a:spLocks noGrp="1"/>
          </p:cNvSpPr>
          <p:nvPr/>
        </p:nvSpPr>
        <p:spPr>
          <a:xfrm>
            <a:off x="7307675" y="2356866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9" name="Content-Placeholder-10-10">
            <a:extLst>
              <a:ext uri="{FF2B5EF4-FFF2-40B4-BE49-F238E27FC236}">
                <a16:creationId xmlns:a16="http://schemas.microsoft.com/office/drawing/2014/main" id="{3223E331-AD16-45AA-9638-2D29BE666754}"/>
              </a:ext>
            </a:extLst>
          </p:cNvPr>
          <p:cNvSpPr>
            <a:spLocks noGrp="1"/>
          </p:cNvSpPr>
          <p:nvPr/>
        </p:nvSpPr>
        <p:spPr>
          <a:xfrm>
            <a:off x="7686675" y="2946940"/>
            <a:ext cx="3911632" cy="548735"/>
          </a:xfrm>
          <a:prstGeom prst="rect">
            <a:avLst/>
          </a:prstGeom>
        </p:spPr>
        <p:txBody>
          <a:bodyPr lIns="0" tIns="0" rIns="0" bIns="0">
            <a:normAutofit fontScale="82513" lnSpcReduction="10000"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接口：POST /v1/chat/completions（当前非流式）</a:t>
            </a:r>
          </a:p>
        </p:txBody>
      </p:sp>
      <p:sp>
        <p:nvSpPr>
          <p:cNvPr id="10" name="Google-Shape-340-p61-11">
            <a:extLst>
              <a:ext uri="{FF2B5EF4-FFF2-40B4-BE49-F238E27FC236}">
                <a16:creationId xmlns:a16="http://schemas.microsoft.com/office/drawing/2014/main" id="{51D50ECF-F23B-4535-8B64-11E2AA4180B5}"/>
              </a:ext>
            </a:extLst>
          </p:cNvPr>
          <p:cNvSpPr>
            <a:spLocks noGrp="1"/>
          </p:cNvSpPr>
          <p:nvPr/>
        </p:nvSpPr>
        <p:spPr>
          <a:xfrm>
            <a:off x="7307675" y="2971705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11" name="Content-Placeholder-10-12">
            <a:extLst>
              <a:ext uri="{FF2B5EF4-FFF2-40B4-BE49-F238E27FC236}">
                <a16:creationId xmlns:a16="http://schemas.microsoft.com/office/drawing/2014/main" id="{4983B853-E006-49C2-8EC4-61A4D83B267B}"/>
              </a:ext>
            </a:extLst>
          </p:cNvPr>
          <p:cNvSpPr>
            <a:spLocks noGrp="1"/>
          </p:cNvSpPr>
          <p:nvPr/>
        </p:nvSpPr>
        <p:spPr>
          <a:xfrm>
            <a:off x="7686675" y="3556444"/>
            <a:ext cx="3911632" cy="548735"/>
          </a:xfrm>
          <a:prstGeom prst="rect">
            <a:avLst/>
          </a:prstGeom>
        </p:spPr>
        <p:txBody>
          <a:bodyPr lIns="0" tIns="0" rIns="0" bIns="0">
            <a:normAutofit fontScale="90013" lnSpcReduction="20000"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管理：上游、分组、测试、请求、价格、活动</a:t>
            </a:r>
          </a:p>
        </p:txBody>
      </p:sp>
      <p:sp>
        <p:nvSpPr>
          <p:cNvPr id="12" name="Google-Shape-340-p61-13">
            <a:extLst>
              <a:ext uri="{FF2B5EF4-FFF2-40B4-BE49-F238E27FC236}">
                <a16:creationId xmlns:a16="http://schemas.microsoft.com/office/drawing/2014/main" id="{F025A262-D7E6-4A1B-98C1-5CA2DA33F2D9}"/>
              </a:ext>
            </a:extLst>
          </p:cNvPr>
          <p:cNvSpPr>
            <a:spLocks noGrp="1"/>
          </p:cNvSpPr>
          <p:nvPr/>
        </p:nvSpPr>
        <p:spPr>
          <a:xfrm>
            <a:off x="7307675" y="3581305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13" name="Content-Placeholder-10-14">
            <a:extLst>
              <a:ext uri="{FF2B5EF4-FFF2-40B4-BE49-F238E27FC236}">
                <a16:creationId xmlns:a16="http://schemas.microsoft.com/office/drawing/2014/main" id="{B9790E76-BD16-4C56-B4FA-5C0ABEBE1AF8}"/>
              </a:ext>
            </a:extLst>
          </p:cNvPr>
          <p:cNvSpPr>
            <a:spLocks noGrp="1"/>
          </p:cNvSpPr>
          <p:nvPr/>
        </p:nvSpPr>
        <p:spPr>
          <a:xfrm>
            <a:off x="7686675" y="4178808"/>
            <a:ext cx="3911632" cy="548735"/>
          </a:xfrm>
          <a:prstGeom prst="rect">
            <a:avLst/>
          </a:prstGeom>
        </p:spPr>
        <p:txBody>
          <a:bodyPr lIns="0" tIns="0" rIns="0" bIns="0">
            <a:normAutofit fontScale="88473" lnSpcReduction="20000"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运行：start-all.bat 一键启动本地服务</a:t>
            </a:r>
          </a:p>
        </p:txBody>
      </p:sp>
      <p:sp>
        <p:nvSpPr>
          <p:cNvPr id="14" name="Google-Shape-340-p61-15">
            <a:extLst>
              <a:ext uri="{FF2B5EF4-FFF2-40B4-BE49-F238E27FC236}">
                <a16:creationId xmlns:a16="http://schemas.microsoft.com/office/drawing/2014/main" id="{6D84018D-1ED1-4066-9BCC-47FF9B54D8DF}"/>
              </a:ext>
            </a:extLst>
          </p:cNvPr>
          <p:cNvSpPr>
            <a:spLocks noGrp="1"/>
          </p:cNvSpPr>
          <p:nvPr/>
        </p:nvSpPr>
        <p:spPr>
          <a:xfrm>
            <a:off x="7307675" y="4203668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678858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F520CD38-81B5-8886-8C9A-3E9B0A7B9E05}"/>
              </a:ext>
            </a:extLst>
          </p:cNvPr>
          <p:cNvSpPr/>
          <p:nvPr/>
        </p:nvSpPr>
        <p:spPr>
          <a:xfrm>
            <a:off x="4762" y="1803463"/>
            <a:ext cx="12192000" cy="39909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ounded-Rectangle-5-1">
            <a:extLst>
              <a:ext uri="{FF2B5EF4-FFF2-40B4-BE49-F238E27FC236}">
                <a16:creationId xmlns:a16="http://schemas.microsoft.com/office/drawing/2014/main" id="{D8AF56D9-F9AA-4AB9-9278-A61D169CB6B0}"/>
              </a:ext>
            </a:extLst>
          </p:cNvPr>
          <p:cNvSpPr>
            <a:spLocks noGrp="1"/>
          </p:cNvSpPr>
          <p:nvPr/>
        </p:nvSpPr>
        <p:spPr>
          <a:xfrm>
            <a:off x="331756" y="2246281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2" name="Rounded-Rectangle-6-2">
            <a:extLst>
              <a:ext uri="{FF2B5EF4-FFF2-40B4-BE49-F238E27FC236}">
                <a16:creationId xmlns:a16="http://schemas.microsoft.com/office/drawing/2014/main" id="{0F5A13A4-6EC9-4606-8DE9-CB497D18741D}"/>
              </a:ext>
            </a:extLst>
          </p:cNvPr>
          <p:cNvSpPr>
            <a:spLocks noGrp="1"/>
          </p:cNvSpPr>
          <p:nvPr/>
        </p:nvSpPr>
        <p:spPr>
          <a:xfrm>
            <a:off x="4249770" y="2246281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3" name="Rounded-Rectangle-7-3">
            <a:extLst>
              <a:ext uri="{FF2B5EF4-FFF2-40B4-BE49-F238E27FC236}">
                <a16:creationId xmlns:a16="http://schemas.microsoft.com/office/drawing/2014/main" id="{B24D2DEE-A29F-4858-A1A2-69C22DB11B8B}"/>
              </a:ext>
            </a:extLst>
          </p:cNvPr>
          <p:cNvSpPr>
            <a:spLocks noGrp="1"/>
          </p:cNvSpPr>
          <p:nvPr/>
        </p:nvSpPr>
        <p:spPr>
          <a:xfrm>
            <a:off x="8170355" y="2246281"/>
            <a:ext cx="3568732" cy="2971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</p:spPr>
      </p:sp>
      <p:sp>
        <p:nvSpPr>
          <p:cNvPr id="4" name="Slide-Number-Placeholder-1-4">
            <a:extLst>
              <a:ext uri="{FF2B5EF4-FFF2-40B4-BE49-F238E27FC236}">
                <a16:creationId xmlns:a16="http://schemas.microsoft.com/office/drawing/2014/main" id="{3AC4A9EC-E32C-4B16-BDA9-C02E44E438B7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5" name="Title-2-5">
            <a:extLst>
              <a:ext uri="{FF2B5EF4-FFF2-40B4-BE49-F238E27FC236}">
                <a16:creationId xmlns:a16="http://schemas.microsoft.com/office/drawing/2014/main" id="{CE52D88C-DC64-491B-ADFF-7C2E4F73AB97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当前成果：核心功能已形成可用初版</a:t>
            </a:r>
          </a:p>
        </p:txBody>
      </p:sp>
      <p:sp>
        <p:nvSpPr>
          <p:cNvPr id="6" name="Content-Placeholder-9-6">
            <a:extLst>
              <a:ext uri="{FF2B5EF4-FFF2-40B4-BE49-F238E27FC236}">
                <a16:creationId xmlns:a16="http://schemas.microsoft.com/office/drawing/2014/main" id="{EDFCD67C-A44C-4793-8A04-CC07EFD5ADD5}"/>
              </a:ext>
            </a:extLst>
          </p:cNvPr>
          <p:cNvSpPr>
            <a:spLocks noGrp="1"/>
          </p:cNvSpPr>
          <p:nvPr/>
        </p:nvSpPr>
        <p:spPr>
          <a:xfrm>
            <a:off x="627602" y="3602451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 fontScale="99479" lnSpcReduction="10000"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服务端单元测试</a:t>
            </a:r>
            <a:r>
              <a:rPr dirty="0"/>
              <a:t>
</a:t>
            </a:r>
            <a:r>
              <a:rPr dirty="0" err="1"/>
              <a:t>全部通过</a:t>
            </a:r>
            <a:endParaRPr dirty="0"/>
          </a:p>
        </p:txBody>
      </p:sp>
      <p:sp>
        <p:nvSpPr>
          <p:cNvPr id="7" name="Content-Placeholder-10-7">
            <a:extLst>
              <a:ext uri="{FF2B5EF4-FFF2-40B4-BE49-F238E27FC236}">
                <a16:creationId xmlns:a16="http://schemas.microsoft.com/office/drawing/2014/main" id="{A665E895-41E0-4131-8FF9-38B9CFF5BE83}"/>
              </a:ext>
            </a:extLst>
          </p:cNvPr>
          <p:cNvSpPr>
            <a:spLocks noGrp="1"/>
          </p:cNvSpPr>
          <p:nvPr/>
        </p:nvSpPr>
        <p:spPr>
          <a:xfrm>
            <a:off x="8479918" y="3667126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 fontScale="78398" lnSpcReduction="20000"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Web </a:t>
            </a:r>
            <a:r>
              <a:rPr dirty="0" err="1"/>
              <a:t>测试页</a:t>
            </a:r>
            <a:r>
              <a:rPr dirty="0"/>
              <a:t> + Cherry Studio
</a:t>
            </a:r>
            <a:r>
              <a:rPr dirty="0" err="1"/>
              <a:t>完成真实</a:t>
            </a:r>
            <a:r>
              <a:rPr dirty="0"/>
              <a:t> API </a:t>
            </a:r>
            <a:r>
              <a:rPr dirty="0" err="1"/>
              <a:t>验证</a:t>
            </a:r>
            <a:endParaRPr dirty="0"/>
          </a:p>
        </p:txBody>
      </p:sp>
      <p:sp>
        <p:nvSpPr>
          <p:cNvPr id="8" name="Content-Placeholder-11-8">
            <a:extLst>
              <a:ext uri="{FF2B5EF4-FFF2-40B4-BE49-F238E27FC236}">
                <a16:creationId xmlns:a16="http://schemas.microsoft.com/office/drawing/2014/main" id="{B70BC98B-A5B9-43BC-8CEF-66627715E804}"/>
              </a:ext>
            </a:extLst>
          </p:cNvPr>
          <p:cNvSpPr>
            <a:spLocks noGrp="1"/>
          </p:cNvSpPr>
          <p:nvPr/>
        </p:nvSpPr>
        <p:spPr>
          <a:xfrm>
            <a:off x="4559284" y="3602451"/>
            <a:ext cx="2949607" cy="819150"/>
          </a:xfrm>
          <a:prstGeom prst="rect">
            <a:avLst/>
          </a:prstGeom>
        </p:spPr>
        <p:txBody>
          <a:bodyPr lIns="91440" tIns="45720" rIns="91440" bIns="45720">
            <a:normAutofit fontScale="99479" lnSpcReduction="10000"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TypeScript </a:t>
            </a:r>
            <a:r>
              <a:rPr dirty="0" err="1"/>
              <a:t>检查</a:t>
            </a:r>
            <a:r>
              <a:rPr dirty="0"/>
              <a:t>
与 Vite </a:t>
            </a:r>
            <a:r>
              <a:rPr dirty="0" err="1"/>
              <a:t>构建通过</a:t>
            </a:r>
            <a:endParaRPr dirty="0"/>
          </a:p>
        </p:txBody>
      </p:sp>
      <p:sp>
        <p:nvSpPr>
          <p:cNvPr id="9" name="Content-Placeholder-9-9">
            <a:extLst>
              <a:ext uri="{FF2B5EF4-FFF2-40B4-BE49-F238E27FC236}">
                <a16:creationId xmlns:a16="http://schemas.microsoft.com/office/drawing/2014/main" id="{F87EEEA6-E86A-477C-8AFD-95F57C02D422}"/>
              </a:ext>
            </a:extLst>
          </p:cNvPr>
          <p:cNvSpPr>
            <a:spLocks noGrp="1"/>
          </p:cNvSpPr>
          <p:nvPr/>
        </p:nvSpPr>
        <p:spPr>
          <a:xfrm>
            <a:off x="627602" y="2130838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12 / 12</a:t>
            </a:r>
          </a:p>
        </p:txBody>
      </p:sp>
      <p:sp>
        <p:nvSpPr>
          <p:cNvPr id="10" name="Content-Placeholder-9-10">
            <a:extLst>
              <a:ext uri="{FF2B5EF4-FFF2-40B4-BE49-F238E27FC236}">
                <a16:creationId xmlns:a16="http://schemas.microsoft.com/office/drawing/2014/main" id="{E88D1AE6-C00E-4BF4-8910-58A4859B33A6}"/>
              </a:ext>
            </a:extLst>
          </p:cNvPr>
          <p:cNvSpPr>
            <a:spLocks noGrp="1"/>
          </p:cNvSpPr>
          <p:nvPr/>
        </p:nvSpPr>
        <p:spPr>
          <a:xfrm>
            <a:off x="4550998" y="2130838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BUILD OK</a:t>
            </a:r>
          </a:p>
        </p:txBody>
      </p:sp>
      <p:sp>
        <p:nvSpPr>
          <p:cNvPr id="11" name="Content-Placeholder-9-11">
            <a:extLst>
              <a:ext uri="{FF2B5EF4-FFF2-40B4-BE49-F238E27FC236}">
                <a16:creationId xmlns:a16="http://schemas.microsoft.com/office/drawing/2014/main" id="{33582F31-043A-42DF-BCBB-36A6D3031D4D}"/>
              </a:ext>
            </a:extLst>
          </p:cNvPr>
          <p:cNvSpPr>
            <a:spLocks noGrp="1"/>
          </p:cNvSpPr>
          <p:nvPr/>
        </p:nvSpPr>
        <p:spPr>
          <a:xfrm>
            <a:off x="8500492" y="2195513"/>
            <a:ext cx="2940082" cy="135931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2 </a:t>
            </a:r>
            <a:r>
              <a:rPr dirty="0" err="1"/>
              <a:t>类客户端</a:t>
            </a:r>
            <a:endParaRPr dirty="0"/>
          </a:p>
        </p:txBody>
      </p:sp>
      <p:sp>
        <p:nvSpPr>
          <p:cNvPr id="12" name="Content-Placeholder-15-12">
            <a:extLst>
              <a:ext uri="{FF2B5EF4-FFF2-40B4-BE49-F238E27FC236}">
                <a16:creationId xmlns:a16="http://schemas.microsoft.com/office/drawing/2014/main" id="{DC0CF691-5F39-466B-9333-E0F7A7F5CB4E}"/>
              </a:ext>
            </a:extLst>
          </p:cNvPr>
          <p:cNvSpPr>
            <a:spLocks noGrp="1"/>
          </p:cNvSpPr>
          <p:nvPr/>
        </p:nvSpPr>
        <p:spPr>
          <a:xfrm>
            <a:off x="393668" y="1138333"/>
            <a:ext cx="11404568" cy="159943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验证结论</a:t>
            </a:r>
          </a:p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配置、路由、切换、追踪和第三方客户端调用均已跑通。</a:t>
            </a:r>
          </a:p>
        </p:txBody>
      </p:sp>
    </p:spTree>
    <p:extLst>
      <p:ext uri="{BB962C8B-B14F-4D97-AF65-F5344CB8AC3E}">
        <p14:creationId xmlns:p14="http://schemas.microsoft.com/office/powerpoint/2010/main" val="413844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BF0BA742-B57F-4E59-84BB-73AC07CAFF2E}"/>
              </a:ext>
            </a:extLst>
          </p:cNvPr>
          <p:cNvSpPr/>
          <p:nvPr/>
        </p:nvSpPr>
        <p:spPr>
          <a:xfrm>
            <a:off x="0" y="1624013"/>
            <a:ext cx="12192000" cy="39909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Google-Shape-532-p58-2">
            <a:extLst>
              <a:ext uri="{FF2B5EF4-FFF2-40B4-BE49-F238E27FC236}">
                <a16:creationId xmlns:a16="http://schemas.microsoft.com/office/drawing/2014/main" id="{FE9B54AB-27D8-4747-B7EE-178BC5200160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E83DEEE3-2408-486C-A6C5-626A9D580FD9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模型价格与活动：已能展示，但当前不是实时抓取</a:t>
            </a:r>
          </a:p>
        </p:txBody>
      </p:sp>
      <p:sp>
        <p:nvSpPr>
          <p:cNvPr id="3" name="Google-Shape-558-p61-4">
            <a:extLst>
              <a:ext uri="{FF2B5EF4-FFF2-40B4-BE49-F238E27FC236}">
                <a16:creationId xmlns:a16="http://schemas.microsoft.com/office/drawing/2014/main" id="{7EB1BF40-4411-492B-8DA7-245ED1FA45F2}"/>
              </a:ext>
            </a:extLst>
          </p:cNvPr>
          <p:cNvSpPr>
            <a:spLocks noGrp="1"/>
          </p:cNvSpPr>
          <p:nvPr/>
        </p:nvSpPr>
        <p:spPr>
          <a:xfrm>
            <a:off x="387334" y="281301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现在有什么
展示模型、输入/输出价格、来源链接、核验日期与活动起止时间。</a:t>
            </a:r>
          </a:p>
        </p:txBody>
      </p:sp>
      <p:sp>
        <p:nvSpPr>
          <p:cNvPr id="4" name="Google-Shape-559-p61-5">
            <a:extLst>
              <a:ext uri="{FF2B5EF4-FFF2-40B4-BE49-F238E27FC236}">
                <a16:creationId xmlns:a16="http://schemas.microsoft.com/office/drawing/2014/main" id="{E86298E9-C063-4B57-8C45-F9335E890FE4}"/>
              </a:ext>
            </a:extLst>
          </p:cNvPr>
          <p:cNvSpPr>
            <a:spLocks noGrp="1"/>
          </p:cNvSpPr>
          <p:nvPr/>
        </p:nvSpPr>
        <p:spPr>
          <a:xfrm>
            <a:off x="4311634" y="281301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数据如何更新
页面读取项目内维护的快照数据；供应商调价后需要人工核对和修改。</a:t>
            </a:r>
          </a:p>
        </p:txBody>
      </p:sp>
      <p:sp>
        <p:nvSpPr>
          <p:cNvPr id="5" name="Google-Shape-560-p61-6">
            <a:extLst>
              <a:ext uri="{FF2B5EF4-FFF2-40B4-BE49-F238E27FC236}">
                <a16:creationId xmlns:a16="http://schemas.microsoft.com/office/drawing/2014/main" id="{0F9F3183-8F38-4B95-A7D4-CF2690212D0D}"/>
              </a:ext>
            </a:extLst>
          </p:cNvPr>
          <p:cNvSpPr>
            <a:spLocks noGrp="1"/>
          </p:cNvSpPr>
          <p:nvPr/>
        </p:nvSpPr>
        <p:spPr>
          <a:xfrm>
            <a:off x="8225933" y="281301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下一步
增加定时采集、更新时间、历史价格、变更检测与活动到期提醒。</a:t>
            </a:r>
          </a:p>
        </p:txBody>
      </p:sp>
      <p:sp>
        <p:nvSpPr>
          <p:cNvPr id="6" name="Google-Shape-561-p61-7">
            <a:extLst>
              <a:ext uri="{FF2B5EF4-FFF2-40B4-BE49-F238E27FC236}">
                <a16:creationId xmlns:a16="http://schemas.microsoft.com/office/drawing/2014/main" id="{9B977250-1AB1-4F65-AFA9-5B7E587ED3BC}"/>
              </a:ext>
            </a:extLst>
          </p:cNvPr>
          <p:cNvSpPr>
            <a:spLocks noGrp="1"/>
          </p:cNvSpPr>
          <p:nvPr/>
        </p:nvSpPr>
        <p:spPr>
          <a:xfrm>
            <a:off x="4273534" y="2182178"/>
            <a:ext cx="315563" cy="353854"/>
          </a:xfrm>
          <a:custGeom>
            <a:avLst/>
            <a:gdLst/>
            <a:ahLst/>
            <a:cxnLst/>
            <a:rect l="0" t="0" r="0" b="0"/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7" name="Google-Shape-562-p61-8">
            <a:extLst>
              <a:ext uri="{FF2B5EF4-FFF2-40B4-BE49-F238E27FC236}">
                <a16:creationId xmlns:a16="http://schemas.microsoft.com/office/drawing/2014/main" id="{AB4EEABD-39FD-47B4-A183-39D4F21FE0DA}"/>
              </a:ext>
            </a:extLst>
          </p:cNvPr>
          <p:cNvSpPr>
            <a:spLocks noGrp="1"/>
          </p:cNvSpPr>
          <p:nvPr/>
        </p:nvSpPr>
        <p:spPr>
          <a:xfrm>
            <a:off x="395050" y="2178082"/>
            <a:ext cx="327089" cy="362045"/>
          </a:xfrm>
          <a:custGeom>
            <a:avLst/>
            <a:gdLst/>
            <a:ahLst/>
            <a:cxnLst/>
            <a:rect l="0" t="0" r="0" b="0"/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8" name="Google-Shape-563-p61-9">
            <a:extLst>
              <a:ext uri="{FF2B5EF4-FFF2-40B4-BE49-F238E27FC236}">
                <a16:creationId xmlns:a16="http://schemas.microsoft.com/office/drawing/2014/main" id="{2237A14B-F634-4C76-AA53-7B252A04FBA8}"/>
              </a:ext>
            </a:extLst>
          </p:cNvPr>
          <p:cNvSpPr>
            <a:spLocks noGrp="1"/>
          </p:cNvSpPr>
          <p:nvPr/>
        </p:nvSpPr>
        <p:spPr>
          <a:xfrm>
            <a:off x="8225266" y="2206657"/>
            <a:ext cx="338614" cy="270891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067899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37ED071-57E1-37F5-EA81-2F6AA8CA6C87}"/>
              </a:ext>
            </a:extLst>
          </p:cNvPr>
          <p:cNvSpPr/>
          <p:nvPr/>
        </p:nvSpPr>
        <p:spPr>
          <a:xfrm>
            <a:off x="0" y="1624013"/>
            <a:ext cx="12192000" cy="39909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Slide-Number-Placeholder-3-2">
            <a:extLst>
              <a:ext uri="{FF2B5EF4-FFF2-40B4-BE49-F238E27FC236}">
                <a16:creationId xmlns:a16="http://schemas.microsoft.com/office/drawing/2014/main" id="{8B780256-7049-4666-9888-1432F0DCEF8C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58767541-1879-4719-94CB-CCB2CBBADD5E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从课堂 MVP 到长期可用网关</a:t>
            </a:r>
          </a:p>
        </p:txBody>
      </p:sp>
      <p:cxnSp>
        <p:nvCxnSpPr>
          <p:cNvPr id="15" name="Google-Shape-2259-p159-4"/>
          <p:cNvCxnSpPr/>
          <p:nvPr/>
        </p:nvCxnSpPr>
        <p:spPr>
          <a:xfrm>
            <a:off x="337805" y="2716530"/>
            <a:ext cx="11854244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94176367-5867-4FC2-AFF2-BBDA9B7F1B50}"/>
              </a:ext>
            </a:extLst>
          </p:cNvPr>
          <p:cNvSpPr>
            <a:spLocks noGrp="1"/>
          </p:cNvSpPr>
          <p:nvPr/>
        </p:nvSpPr>
        <p:spPr>
          <a:xfrm>
            <a:off x="337805" y="2663000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5EECB1C3-2238-4FC0-8A0B-DC092046EE53}"/>
              </a:ext>
            </a:extLst>
          </p:cNvPr>
          <p:cNvSpPr>
            <a:spLocks noGrp="1"/>
          </p:cNvSpPr>
          <p:nvPr/>
        </p:nvSpPr>
        <p:spPr>
          <a:xfrm>
            <a:off x="4251818" y="2663000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DBF38670-7336-4B5E-A7D2-E1CCC9B80490}"/>
              </a:ext>
            </a:extLst>
          </p:cNvPr>
          <p:cNvSpPr>
            <a:spLocks noGrp="1"/>
          </p:cNvSpPr>
          <p:nvPr/>
        </p:nvSpPr>
        <p:spPr>
          <a:xfrm>
            <a:off x="8176118" y="2663000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D977F649-ADFA-46A2-A9CC-9E13DC22DF0A}"/>
              </a:ext>
            </a:extLst>
          </p:cNvPr>
          <p:cNvSpPr>
            <a:spLocks noGrp="1"/>
          </p:cNvSpPr>
          <p:nvPr/>
        </p:nvSpPr>
        <p:spPr>
          <a:xfrm>
            <a:off x="393716" y="2186083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P0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DB66A794-C527-4111-BF08-808CC85BA3B5}"/>
              </a:ext>
            </a:extLst>
          </p:cNvPr>
          <p:cNvSpPr>
            <a:spLocks noGrp="1"/>
          </p:cNvSpPr>
          <p:nvPr/>
        </p:nvSpPr>
        <p:spPr>
          <a:xfrm>
            <a:off x="4294204" y="2186083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P1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3DF653AE-F1E7-4861-B652-928BE69AC6EB}"/>
              </a:ext>
            </a:extLst>
          </p:cNvPr>
          <p:cNvSpPr>
            <a:spLocks noGrp="1"/>
          </p:cNvSpPr>
          <p:nvPr/>
        </p:nvSpPr>
        <p:spPr>
          <a:xfrm>
            <a:off x="8223266" y="2186083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P2</a:t>
            </a:r>
          </a:p>
        </p:txBody>
      </p:sp>
      <p:sp>
        <p:nvSpPr>
          <p:cNvPr id="10" name="Text-Placeholder-16-11">
            <a:extLst>
              <a:ext uri="{FF2B5EF4-FFF2-40B4-BE49-F238E27FC236}">
                <a16:creationId xmlns:a16="http://schemas.microsoft.com/office/drawing/2014/main" id="{FDA0B2A2-8E7A-4D34-A4D6-E2E46F285881}"/>
              </a:ext>
            </a:extLst>
          </p:cNvPr>
          <p:cNvSpPr>
            <a:spLocks noGrp="1"/>
          </p:cNvSpPr>
          <p:nvPr/>
        </p:nvSpPr>
        <p:spPr>
          <a:xfrm>
            <a:off x="4317159" y="3165443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智能路由与实时数据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健康检查、熔断恢复、成本/延迟策略、价格与活动定时采集。</a:t>
            </a:r>
          </a:p>
        </p:txBody>
      </p:sp>
      <p:sp>
        <p:nvSpPr>
          <p:cNvPr id="11" name="Text-Placeholder-16-12">
            <a:extLst>
              <a:ext uri="{FF2B5EF4-FFF2-40B4-BE49-F238E27FC236}">
                <a16:creationId xmlns:a16="http://schemas.microsoft.com/office/drawing/2014/main" id="{07E8AA1F-8C1F-42C4-8B03-1F7CCBA05B2A}"/>
              </a:ext>
            </a:extLst>
          </p:cNvPr>
          <p:cNvSpPr>
            <a:spLocks noGrp="1"/>
          </p:cNvSpPr>
          <p:nvPr/>
        </p:nvSpPr>
        <p:spPr>
          <a:xfrm>
            <a:off x="399907" y="3165443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兼容与安全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调用鉴权、SSE 流式输出、/v1/models、错误映射与客户端兼容。</a:t>
            </a:r>
          </a:p>
        </p:txBody>
      </p:sp>
      <p:sp>
        <p:nvSpPr>
          <p:cNvPr id="12" name="Text-Placeholder-16-13">
            <a:extLst>
              <a:ext uri="{FF2B5EF4-FFF2-40B4-BE49-F238E27FC236}">
                <a16:creationId xmlns:a16="http://schemas.microsoft.com/office/drawing/2014/main" id="{5AAFB590-0680-4B7D-A210-DD334516CF7F}"/>
              </a:ext>
            </a:extLst>
          </p:cNvPr>
          <p:cNvSpPr>
            <a:spLocks noGrp="1"/>
          </p:cNvSpPr>
          <p:nvPr/>
        </p:nvSpPr>
        <p:spPr>
          <a:xfrm>
            <a:off x="8177927" y="3165443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生产化</a:t>
            </a:r>
          </a:p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用户与配额、用量统计、Docker、HTTPS、备份和监控。</a:t>
            </a:r>
          </a:p>
        </p:txBody>
      </p:sp>
    </p:spTree>
    <p:extLst>
      <p:ext uri="{BB962C8B-B14F-4D97-AF65-F5344CB8AC3E}">
        <p14:creationId xmlns:p14="http://schemas.microsoft.com/office/powerpoint/2010/main" val="360702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-Shape-532-p58-2">
            <a:extLst>
              <a:ext uri="{FF2B5EF4-FFF2-40B4-BE49-F238E27FC236}">
                <a16:creationId xmlns:a16="http://schemas.microsoft.com/office/drawing/2014/main" id="{CE334D06-AB0A-4A98-9689-D734B849FCAC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990CE7FA-6908-4EB3-9A99-83377C049B7A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zh-CN" altLang="en-US" dirty="0"/>
              <a:t>验收测试：模型价格抓取</a:t>
            </a:r>
            <a:endParaRPr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9361F9BC-66DC-B9C6-7DAD-BF4579CF9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037022"/>
            <a:ext cx="9803775" cy="552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46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245BC-BB6D-44C5-8DFF-9A01C9F3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-Shape-532-p58-2">
            <a:extLst>
              <a:ext uri="{FF2B5EF4-FFF2-40B4-BE49-F238E27FC236}">
                <a16:creationId xmlns:a16="http://schemas.microsoft.com/office/drawing/2014/main" id="{5C40C3DF-7918-D752-0624-9EA7E496C23E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dirty="0"/>
              <a:t>10</a:t>
            </a:r>
            <a:endParaRPr dirty="0"/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7D171862-862C-135F-DD44-E329FEDA1D1F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zh-CN" altLang="en-US" dirty="0"/>
              <a:t>验收测试：活动价格抓取</a:t>
            </a:r>
            <a:endParaRPr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2A6952-4AFF-F0A3-345E-EF70CE7DBB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68" y="1074914"/>
            <a:ext cx="9803777" cy="552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36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C7FC6-4529-2BAB-5EAC-5C1F9AC74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-Shape-532-p58-2">
            <a:extLst>
              <a:ext uri="{FF2B5EF4-FFF2-40B4-BE49-F238E27FC236}">
                <a16:creationId xmlns:a16="http://schemas.microsoft.com/office/drawing/2014/main" id="{CAF34EA1-3496-FEAF-169B-E5FD9BE2078A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dirty="0"/>
              <a:t>11</a:t>
            </a:r>
            <a:endParaRPr dirty="0"/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C887B24D-8CD7-40BC-1DB7-DF31DE50CC5D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zh-CN" altLang="en-US" dirty="0"/>
              <a:t>验收测试：上游故障后自动路由</a:t>
            </a:r>
            <a:endParaRPr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6AB114F-3CF6-53D3-7113-42A0C0EA10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513" y="904875"/>
            <a:ext cx="6801970" cy="321204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C7CE98F-9D65-13C5-C003-479FC82D3D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004" y="4050241"/>
            <a:ext cx="7272987" cy="273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51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7B92FFC5-3F16-4306-905B-89B48DE91B65}"/>
              </a:ext>
            </a:extLst>
          </p:cNvPr>
          <p:cNvSpPr>
            <a:spLocks noGrp="1"/>
          </p:cNvSpPr>
          <p:nvPr/>
        </p:nvSpPr>
        <p:spPr>
          <a:xfrm>
            <a:off x="4961256" y="1168552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 err="1"/>
              <a:t>谢谢</a:t>
            </a:r>
            <a:endParaRPr dirty="0"/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F2354977-B48A-489F-8E74-2B9279B2D9F3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4902232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dirty="0"/>
              <a:t>PERSONAL GATEWAY PLUS</a:t>
            </a:r>
          </a:p>
        </p:txBody>
      </p:sp>
    </p:spTree>
    <p:extLst>
      <p:ext uri="{BB962C8B-B14F-4D97-AF65-F5344CB8AC3E}">
        <p14:creationId xmlns:p14="http://schemas.microsoft.com/office/powerpoint/2010/main" val="117537611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833</Words>
  <Application>Microsoft Office PowerPoint</Application>
  <DocSecurity>0</DocSecurity>
  <PresentationFormat>宽屏</PresentationFormat>
  <Paragraphs>147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微软雅黑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钰杰 张</cp:lastModifiedBy>
  <cp:revision>1</cp:revision>
  <dcterms:created xsi:type="dcterms:W3CDTF">2026-08-12T02:33:53Z</dcterms:created>
  <dcterms:modified xsi:type="dcterms:W3CDTF">2026-08-12T02:49:44Z</dcterms:modified>
</cp:coreProperties>
</file>